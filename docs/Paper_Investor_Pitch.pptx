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ARR (₹ Cr)</c:v>
                </c:pt>
              </c:strCache>
            </c:strRef>
          </c:tx>
          <c:spPr>
            <a:solidFill>
              <a:srgbClr val="285D47"/>
            </a:solidFill>
          </c:spPr>
          <c:dPt>
            <c:idx val="4"/>
            <c:spPr>
              <a:solidFill>
                <a:srgbClr val="A67C1A"/>
              </a:solidFill>
            </c:spPr>
          </c:dPt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12.3</c:v>
                </c:pt>
                <c:pt idx="2">
                  <c:v>35.1</c:v>
                </c:pt>
                <c:pt idx="3">
                  <c:v>75.5</c:v>
                </c:pt>
                <c:pt idx="4">
                  <c:v>145.0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735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4CEBD"/>
            </a:solidFill>
          </a:ln>
        </c:spPr>
        <c:txPr>
          <a:bodyPr/>
          <a:lstStyle/>
          <a:p>
            <a:pPr>
              <a:defRPr sz="1100">
                <a:solidFill>
                  <a:srgbClr val="5C6B6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7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EF4EE"/>
                </a:solidFill>
                <a:latin typeface="Georgia"/>
              </a:rPr>
              <a:t>Paper</a:t>
            </a:r>
            <a:r>
              <a:rPr sz="1100" b="0" i="0">
                <a:solidFill>
                  <a:srgbClr val="CDDCD2"/>
                </a:solidFill>
                <a:latin typeface="Consolas"/>
              </a:rPr>
              <a:t>      OS FOR CORPORATE LEGAL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71255" y="548640"/>
            <a:ext cx="283464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67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71255" y="548640"/>
            <a:ext cx="2834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67C1A"/>
                </a:solidFill>
                <a:latin typeface="Consolas"/>
              </a:rPr>
              <a:t>SEED ROUND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EEF4EE"/>
                </a:solidFill>
                <a:latin typeface="Georgia"/>
              </a:rPr>
              <a:t>One system from </a:t>
            </a:r>
            <a:r>
              <a:rPr sz="4400" b="0" i="1">
                <a:solidFill>
                  <a:srgbClr val="A67C1A"/>
                </a:solidFill>
                <a:latin typeface="Georgia"/>
              </a:rPr>
              <a:t>incorporation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EEF4EE"/>
                </a:solidFill>
                <a:latin typeface="Georgia"/>
              </a:rPr>
              <a:t>to </a:t>
            </a:r>
            <a:r>
              <a:rPr sz="4400" b="0" i="1">
                <a:solidFill>
                  <a:srgbClr val="A67C1A"/>
                </a:solidFill>
                <a:latin typeface="Georgia"/>
              </a:rPr>
              <a:t>exit.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8869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CD2"/>
                </a:solidFill>
                <a:latin typeface="Segoe UI"/>
              </a:rPr>
              <a:t>Every Indian company and fund runs its cap table, compliance and fundraising on a patchwork of spreadsheets and retainer fees. Paper replaces the patchwork — on one platform, priced for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74920"/>
            <a:ext cx="2567863" cy="1097280"/>
          </a:xfrm>
          <a:prstGeom prst="roundRect">
            <a:avLst>
              <a:gd name="adj" fmla="val 6000"/>
            </a:avLst>
          </a:prstGeom>
          <a:solidFill>
            <a:srgbClr val="1E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2303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EF4EE"/>
                </a:solidFill>
                <a:latin typeface="Consolas"/>
              </a:rPr>
              <a:t>~2.0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6875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CD2"/>
                </a:solidFill>
                <a:latin typeface="Segoe UI"/>
              </a:rPr>
              <a:t>DPIIT-recognised startups, +30k/yr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6543" y="5074920"/>
            <a:ext cx="2567863" cy="1097280"/>
          </a:xfrm>
          <a:prstGeom prst="roundRect">
            <a:avLst>
              <a:gd name="adj" fmla="val 6000"/>
            </a:avLst>
          </a:prstGeom>
          <a:solidFill>
            <a:srgbClr val="1E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7711" y="52303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EF4EE"/>
                </a:solidFill>
                <a:latin typeface="Consolas"/>
              </a:rPr>
              <a:t>₹15.7 L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7711" y="56875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CD2"/>
                </a:solidFill>
                <a:latin typeface="Segoe UI"/>
              </a:rPr>
              <a:t>AIF commitments across 1,849 funds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5074920"/>
            <a:ext cx="2567863" cy="1097280"/>
          </a:xfrm>
          <a:prstGeom prst="roundRect">
            <a:avLst>
              <a:gd name="adj" fmla="val 6000"/>
            </a:avLst>
          </a:prstGeom>
          <a:solidFill>
            <a:srgbClr val="1E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8455" y="52303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EF4EE"/>
                </a:solidFill>
                <a:latin typeface="Consolas"/>
              </a:rPr>
              <a:t>~₹9,500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8455" y="56875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CD2"/>
                </a:solidFill>
                <a:latin typeface="Segoe UI"/>
              </a:rPr>
              <a:t>TAM — corporate-legal &amp; fund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8031" y="5074920"/>
            <a:ext cx="2567863" cy="1097280"/>
          </a:xfrm>
          <a:prstGeom prst="roundRect">
            <a:avLst>
              <a:gd name="adj" fmla="val 6000"/>
            </a:avLst>
          </a:prstGeom>
          <a:solidFill>
            <a:srgbClr val="1E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9199" y="52303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EF4EE"/>
                </a:solidFill>
                <a:latin typeface="Consolas"/>
              </a:rPr>
              <a:t>₹145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9199" y="5687568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DDCD2"/>
                </a:solidFill>
                <a:latin typeface="Segoe UI"/>
              </a:rPr>
              <a:t>Target ARR by Year 5 (illustrative)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01  —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Corporate legal is the founder's most expensive blind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Segoe UI"/>
              </a:rPr>
              <a:t>Unavoidable, highly regulated work — served by fragmented, manual tooling built for advisors, not founders.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27288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6714" y="2487168"/>
            <a:ext cx="54864" cy="1197864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The cap table lives in a spreadsheet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47699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Ownership, ESOP pools and convertibles drift out of sync the moment a round closes. Founders don't know their own fully-diluted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286000"/>
            <a:ext cx="527288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922" y="2487168"/>
            <a:ext cx="54864" cy="1197864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505456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Compliance is a retainer and a prayer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944368"/>
            <a:ext cx="47699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ROC filings, board resolutions, FEMA (FC-GPR), registers — outsourced to a CS, tracked nowhere, surfaced only when a deadline is already missed.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42232"/>
            <a:ext cx="527288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714" y="4343400"/>
            <a:ext cx="54864" cy="1197864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61688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Fundraising means re-keying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47699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Term sheets, PAS-4 letters, subscription agreements and the data room are rebuilt by hand each round, in Word, at ₹lakhs a raise.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42232"/>
            <a:ext cx="527288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922" y="4343400"/>
            <a:ext cx="54864" cy="1197864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361688"/>
            <a:ext cx="476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Funds run on Excel too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4800600"/>
            <a:ext cx="47699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AIFs and syndicates manage LP capital accounts, drawdowns, the waterfall, NAV and Form 64C/64D by hand — the same sprawl, one layer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02  — 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The system of record for the whole company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Segoe UI"/>
              </a:rPr>
              <a:t>Not a point tool bolted on — the workflow itself. Every artifact reads from one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55414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395728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7C1A"/>
                </a:solidFill>
                <a:latin typeface="Consolas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670048"/>
            <a:ext cx="21883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352A"/>
                </a:solidFill>
                <a:latin typeface="Georgia"/>
              </a:rPr>
              <a:t>Incorporate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072384"/>
            <a:ext cx="2142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Wizard-driven Pvt Ltd / LLP / OPC formation with the full incorporation set drafted.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1115" y="2240280"/>
            <a:ext cx="255414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0571" y="2395728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7C1A"/>
                </a:solidFill>
                <a:latin typeface="Consolas"/>
              </a:rPr>
              <a:t>STAGE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571" y="2670048"/>
            <a:ext cx="21883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352A"/>
                </a:solidFill>
                <a:latin typeface="Georgia"/>
              </a:rPr>
              <a:t>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0571" y="3072384"/>
            <a:ext cx="2142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Cap table, ESOP pools &amp; grants, founder vesting, fully-diluted &amp; scenario 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2240280"/>
            <a:ext cx="255414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2395728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7C1A"/>
                </a:solidFill>
                <a:latin typeface="Consolas"/>
              </a:rPr>
              <a:t>STAGE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670048"/>
            <a:ext cx="21883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352A"/>
                </a:solidFill>
                <a:latin typeface="Georgia"/>
              </a:rPr>
              <a:t>Raise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072384"/>
            <a:ext cx="2142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Rounds &amp; SAFEs, data room, term-sheet scanner, PAS-4 &amp; FC-GPR on close.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747" y="2240280"/>
            <a:ext cx="2554147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203" y="2395728"/>
            <a:ext cx="2188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7C1A"/>
                </a:solidFill>
                <a:latin typeface="Consolas"/>
              </a:rPr>
              <a:t>STAGE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203" y="2670048"/>
            <a:ext cx="21883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352A"/>
                </a:solidFill>
                <a:latin typeface="Georgia"/>
              </a:rPr>
              <a:t>Manage &amp; fund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203" y="3072384"/>
            <a:ext cx="2142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Board &amp; ROC compliance, registers — plus full SEBI AIF &amp; SPV administration.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14800"/>
            <a:ext cx="342381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29768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52A"/>
                </a:solidFill>
                <a:latin typeface="Georgia"/>
              </a:rPr>
              <a:t>For founders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" y="4681728"/>
            <a:ext cx="457200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809744"/>
            <a:ext cx="29666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Stage-aware guidance — only what matters now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Cap table, ESOP &amp; 409A-style valuations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Diligence readiness score before you raise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3938" y="4114800"/>
            <a:ext cx="342381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1682" y="429768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52A"/>
                </a:solidFill>
                <a:latin typeface="Georgia"/>
              </a:rPr>
              <a:t>For funds &amp; SPVs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1682" y="4681728"/>
            <a:ext cx="457200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1682" y="4809744"/>
            <a:ext cx="29666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LP capital accounts, drawdowns &amp; unitised NAV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Waterfall (hurdle + catch-up); XIRR / DPI / TVPI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Form 64C/64D &amp; SEBI AIF compliance calendar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2076" y="4114800"/>
            <a:ext cx="342381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9820" y="429768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52A"/>
                </a:solidFill>
                <a:latin typeface="Georgia"/>
              </a:rPr>
              <a:t>For investors &amp; LPs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9820" y="4681728"/>
            <a:ext cx="457200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9820" y="4809744"/>
            <a:ext cx="296661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One portal across every holding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Portfolio value, vesting &amp; capital statements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C6B62"/>
                </a:solidFill>
                <a:latin typeface="Segoe UI"/>
              </a:rPr>
              <a:t>•  Commit to deals; record resolution consents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03  —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The base of formalised companies and funds just crossed the tipping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342381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352A"/>
                </a:solidFill>
                <a:latin typeface="Consolas"/>
              </a:rPr>
              <a:t>~20k / mo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291840"/>
            <a:ext cx="548640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56432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New companies incorporated in India — a compounding base that needs a system of record from day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2286000"/>
            <a:ext cx="342381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2560320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352A"/>
                </a:solidFill>
                <a:latin typeface="Consolas"/>
              </a:rPr>
              <a:t>~30% 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8258" y="3291840"/>
            <a:ext cx="548640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3456432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Five-year growth in AIF commitments and registered funds — the fastest-formalising slice of private capital.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076" y="2286000"/>
            <a:ext cx="342381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560320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352A"/>
                </a:solidFill>
                <a:latin typeface="Consolas"/>
              </a:rPr>
              <a:t>$10.5 B+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6396" y="3291840"/>
            <a:ext cx="548640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3456432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Segoe UI"/>
              </a:rPr>
              <a:t>Startup capital across ~1,500 rounds in 2025 — every one a cap-table, PAS-4 and FEMA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Segoe UI"/>
              </a:rPr>
              <a:t>Digitised MCA/ROC filings, SEBI's push to shorten AIF launch timelines, and a generation of founders who expect Stripe-grade software have made the manual status quo untenable. The wedge is open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04  — 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A ~₹9,500 Cr spend pool, barely digitised.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Segoe UI"/>
              </a:rPr>
              <a:t>Paper converts today's manual services spend into software + a services marketplace.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31D"/>
                </a:solidFill>
                <a:latin typeface="Segoe UI"/>
              </a:rPr>
              <a:t>TAM   </a:t>
            </a:r>
            <a:r>
              <a:rPr sz="1050" b="0" i="0">
                <a:solidFill>
                  <a:srgbClr val="5C6B62"/>
                </a:solidFill>
                <a:latin typeface="Consolas"/>
              </a:rPr>
              <a:t>all private cos +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4688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52A"/>
                </a:solidFill>
                <a:latin typeface="Consolas"/>
              </a:rPr>
              <a:t>₹9,500 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79776"/>
            <a:ext cx="5486400" cy="384048"/>
          </a:xfrm>
          <a:prstGeom prst="roundRect">
            <a:avLst>
              <a:gd name="adj" fmla="val 15000"/>
            </a:avLst>
          </a:prstGeom>
          <a:solidFill>
            <a:srgbClr val="F0E6CF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779776"/>
            <a:ext cx="5486400" cy="384048"/>
          </a:xfrm>
          <a:prstGeom prst="roundRect">
            <a:avLst>
              <a:gd name="adj" fmla="val 15000"/>
            </a:avLst>
          </a:prstGeom>
          <a:solidFill>
            <a:srgbClr val="17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31D"/>
                </a:solidFill>
                <a:latin typeface="Segoe UI"/>
              </a:rPr>
              <a:t>SAM   </a:t>
            </a:r>
            <a:r>
              <a:rPr sz="1050" b="0" i="0">
                <a:solidFill>
                  <a:srgbClr val="5C6B62"/>
                </a:solidFill>
                <a:latin typeface="Consolas"/>
              </a:rPr>
              <a:t>digitally-addressable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429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52A"/>
                </a:solidFill>
                <a:latin typeface="Consolas"/>
              </a:rPr>
              <a:t>₹2,500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39896"/>
            <a:ext cx="5486400" cy="384048"/>
          </a:xfrm>
          <a:prstGeom prst="roundRect">
            <a:avLst>
              <a:gd name="adj" fmla="val 15000"/>
            </a:avLst>
          </a:prstGeom>
          <a:solidFill>
            <a:srgbClr val="F0E6CF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739896"/>
            <a:ext cx="1442923" cy="384048"/>
          </a:xfrm>
          <a:prstGeom prst="roundRect">
            <a:avLst>
              <a:gd name="adj" fmla="val 15000"/>
            </a:avLst>
          </a:prstGeom>
          <a:solidFill>
            <a:srgbClr val="285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31D"/>
                </a:solidFill>
                <a:latin typeface="Segoe UI"/>
              </a:rPr>
              <a:t>SOM   </a:t>
            </a:r>
            <a:r>
              <a:rPr sz="1050" b="0" i="0">
                <a:solidFill>
                  <a:srgbClr val="5C6B62"/>
                </a:solidFill>
                <a:latin typeface="Consolas"/>
              </a:rPr>
              <a:t>obtainable in 5 yrs (~6%)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3891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52A"/>
                </a:solidFill>
                <a:latin typeface="Consolas"/>
              </a:rPr>
              <a:t>₹145 Cr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00016"/>
            <a:ext cx="5486400" cy="384048"/>
          </a:xfrm>
          <a:prstGeom prst="roundRect">
            <a:avLst>
              <a:gd name="adj" fmla="val 15000"/>
            </a:avLst>
          </a:prstGeom>
          <a:solidFill>
            <a:srgbClr val="F0E6CF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700016"/>
            <a:ext cx="329184" cy="384048"/>
          </a:xfrm>
          <a:prstGeom prst="roundRect">
            <a:avLst>
              <a:gd name="adj" fmla="val 15000"/>
            </a:avLst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94959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Segoe UI"/>
              </a:rPr>
              <a:t>USD ≈ TAM $1.1B · SAM $300M · SOM $17–18M ARR. SOM is the Year-5 ARR target — a single-digit share of an under-served market.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37960" y="2423160"/>
          <a:ext cx="493776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5C6B62"/>
                          </a:solidFill>
                          <a:latin typeface="Consolas"/>
                        </a:rPr>
                        <a:t>TAM build-up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C6B62"/>
                          </a:solidFill>
                          <a:latin typeface="Consolas"/>
                        </a:rPr>
                        <a:t>Units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C6B62"/>
                          </a:solidFill>
                          <a:latin typeface="Consolas"/>
                        </a:rPr>
                        <a:t>ARPU/yr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C6B62"/>
                          </a:solidFill>
                          <a:latin typeface="Consolas"/>
                        </a:rPr>
                        <a:t>₹ Cr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5C6B62"/>
                          </a:solidFill>
                          <a:latin typeface="Segoe UI"/>
                        </a:rPr>
                        <a:t>Active private companies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~1.6 M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₹40k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6,400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5C6B62"/>
                          </a:solidFill>
                          <a:latin typeface="Segoe UI"/>
                        </a:rPr>
                        <a:t>New incorporations / yr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~2.0 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₹12k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5C6B62"/>
                          </a:solidFill>
                          <a:latin typeface="Segoe UI"/>
                        </a:rPr>
                        <a:t>Cap-table &amp; equity SaaS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~2.3 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₹35k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2,450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5C6B62"/>
                          </a:solidFill>
                          <a:latin typeface="Segoe UI"/>
                        </a:rPr>
                        <a:t>AIFs &amp; SPVs (admin)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~7k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₹1.6 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4231D"/>
                          </a:solidFill>
                          <a:latin typeface="Consolas"/>
                        </a:rPr>
                        <a:t>410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7352A"/>
                          </a:solidFill>
                          <a:latin typeface="Segoe UI"/>
                        </a:rPr>
                        <a:t>Total addressable market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7352A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7352A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7352A"/>
                          </a:solidFill>
                          <a:latin typeface="Consolas"/>
                        </a:rPr>
                        <a:t>~9,500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05  — 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Land on a free cap table. Expand across the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Segoe UI"/>
              </a:rPr>
              <a:t>Product-led: founders start free, upgrade to raise, then bring their funds and advisors on. Suggested plans (INR, illustrative).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43601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95728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67C1A"/>
                </a:solidFill>
                <a:latin typeface="Consolas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70048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7352A"/>
                </a:solidFill>
                <a:latin typeface="Georgia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127248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52A"/>
                </a:solidFill>
                <a:latin typeface="Consolas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529584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onsolas"/>
              </a:rPr>
              <a:t>forever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" y="3877056"/>
            <a:ext cx="2960522" cy="13716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986784"/>
            <a:ext cx="29788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1 entity, cap table (≤ 25 holders)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Document vault &amp; e-sign lite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Getting-started guide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7842" y="2240280"/>
            <a:ext cx="343601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A67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5586" y="2395728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67C1A"/>
                </a:solidFill>
                <a:latin typeface="Consolas"/>
              </a:rPr>
              <a:t>GROWTH · 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5586" y="2670048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7352A"/>
                </a:solidFill>
                <a:latin typeface="Georgia"/>
              </a:rPr>
              <a:t>For raising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5586" y="3127248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52A"/>
                </a:solidFill>
                <a:latin typeface="Consolas"/>
              </a:rPr>
              <a:t>₹4,999/mo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5586" y="3529584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onsolas"/>
              </a:rPr>
              <a:t>~$60/mo · billed annually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5586" y="3877056"/>
            <a:ext cx="2960522" cy="13716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5586" y="3986784"/>
            <a:ext cx="29788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Unlimited holders + ESOP &amp; vesting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Rounds, SAFEs, data room, scanner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Board resolutions + compliance calendar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Diligence readiness &amp; valuations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9884" y="2240280"/>
            <a:ext cx="343601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7628" y="2395728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67C1A"/>
                </a:solidFill>
                <a:latin typeface="Consolas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628" y="2670048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7352A"/>
                </a:solidFill>
                <a:latin typeface="Georgia"/>
              </a:rPr>
              <a:t>For operating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7628" y="3127248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52A"/>
                </a:solidFill>
                <a:latin typeface="Consolas"/>
              </a:rPr>
              <a:t>₹14,999/mo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7628" y="3529584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onsolas"/>
              </a:rPr>
              <a:t>~$180/mo · billed annually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7628" y="3877056"/>
            <a:ext cx="2960522" cy="13716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7628" y="3986784"/>
            <a:ext cx="29788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Multi-entity &amp; scenario / waterfall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Advanced compliance &amp; registers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4231D"/>
                </a:solidFill>
                <a:latin typeface="Segoe UI"/>
              </a:rPr>
              <a:t>✓  Priority support + managed add-ons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57800"/>
            <a:ext cx="3436010" cy="960120"/>
          </a:xfrm>
          <a:prstGeom prst="roundRect">
            <a:avLst>
              <a:gd name="adj" fmla="val 6000"/>
            </a:avLst>
          </a:prstGeom>
          <a:solidFill>
            <a:srgbClr val="F3F5F0"/>
          </a:solidFill>
          <a:ln w="12700">
            <a:solidFill>
              <a:srgbClr val="C4CE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5394960"/>
            <a:ext cx="302453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52A"/>
                </a:solidFill>
                <a:latin typeface="Georgia"/>
              </a:rPr>
              <a:t>Fund &amp; SPV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742432"/>
            <a:ext cx="30245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7C1A"/>
                </a:solidFill>
                <a:latin typeface="Consolas"/>
              </a:rPr>
              <a:t>Fund from ₹1.5 L/yr · SPV ₹20k/deal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7842" y="5257800"/>
            <a:ext cx="3436010" cy="960120"/>
          </a:xfrm>
          <a:prstGeom prst="roundRect">
            <a:avLst>
              <a:gd name="adj" fmla="val 6000"/>
            </a:avLst>
          </a:prstGeom>
          <a:solidFill>
            <a:srgbClr val="F3F5F0"/>
          </a:solidFill>
          <a:ln w="12700">
            <a:solidFill>
              <a:srgbClr val="C4CE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7298" y="5394960"/>
            <a:ext cx="302453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52A"/>
                </a:solidFill>
                <a:latin typeface="Georgia"/>
              </a:rPr>
              <a:t>Formation &amp; filings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7298" y="5742432"/>
            <a:ext cx="30245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7C1A"/>
                </a:solidFill>
                <a:latin typeface="Consolas"/>
              </a:rPr>
              <a:t>Incorporation ₹9,999 · Managed ₹2,999/mo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9884" y="5257800"/>
            <a:ext cx="3436010" cy="960120"/>
          </a:xfrm>
          <a:prstGeom prst="roundRect">
            <a:avLst>
              <a:gd name="adj" fmla="val 6000"/>
            </a:avLst>
          </a:prstGeom>
          <a:solidFill>
            <a:srgbClr val="F3F5F0"/>
          </a:solidFill>
          <a:ln w="12700">
            <a:solidFill>
              <a:srgbClr val="C4CE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9340" y="5394960"/>
            <a:ext cx="302453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352A"/>
                </a:solidFill>
                <a:latin typeface="Georgia"/>
              </a:rPr>
              <a:t>Services marketplace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9340" y="5742432"/>
            <a:ext cx="30245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7C1A"/>
                </a:solidFill>
                <a:latin typeface="Consolas"/>
              </a:rPr>
              <a:t>10–15% take rate on 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06  — 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A path to ₹145 Cr ARR in five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Segoe UI"/>
              </a:rPr>
              <a:t>Bottoms-up from paying accounts × ARPU across four revenue lines. Illustrative estimates, not a forecast.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331720"/>
          <a:ext cx="55778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331720"/>
          <a:ext cx="50292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621792"/>
                <a:gridCol w="621792"/>
                <a:gridCol w="621792"/>
                <a:gridCol w="621792"/>
                <a:gridCol w="62179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5C6B62"/>
                          </a:solidFill>
                          <a:latin typeface="Consolas"/>
                        </a:rPr>
                        <a:t>₹ Cr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5C6B62"/>
                          </a:solidFill>
                          <a:latin typeface="Consolas"/>
                        </a:rPr>
                        <a:t>Y1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5C6B62"/>
                          </a:solidFill>
                          <a:latin typeface="Consolas"/>
                        </a:rPr>
                        <a:t>Y2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5C6B62"/>
                          </a:solidFill>
                          <a:latin typeface="Consolas"/>
                        </a:rPr>
                        <a:t>Y3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5C6B62"/>
                          </a:solidFill>
                          <a:latin typeface="Consolas"/>
                        </a:rPr>
                        <a:t>Y4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5C6B62"/>
                          </a:solidFill>
                          <a:latin typeface="Consolas"/>
                        </a:rPr>
                        <a:t>Y5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C6B62"/>
                          </a:solidFill>
                          <a:latin typeface="Segoe UI"/>
                        </a:rPr>
                        <a:t>Startup subscriptions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2.1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8.6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25.2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55.1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108.0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C6B62"/>
                          </a:solidFill>
                          <a:latin typeface="Segoe UI"/>
                        </a:rPr>
                        <a:t>Fund (AIF) SaaS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0.2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0.8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1.9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5.8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C6B62"/>
                          </a:solidFill>
                          <a:latin typeface="Segoe UI"/>
                        </a:rPr>
                        <a:t>SPV / syndicate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0.1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0.4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1.9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3.2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C6B62"/>
                          </a:solidFill>
                          <a:latin typeface="Segoe UI"/>
                        </a:rPr>
                        <a:t>Services &amp; marketplace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0.6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2.5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7.0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15.0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4231D"/>
                          </a:solidFill>
                          <a:latin typeface="Consolas"/>
                        </a:rPr>
                        <a:t>28.0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7352A"/>
                          </a:solidFill>
                          <a:latin typeface="Segoe UI"/>
                        </a:rPr>
                        <a:t>Total ARR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7352A"/>
                          </a:solidFill>
                          <a:latin typeface="Consolas"/>
                        </a:rPr>
                        <a:t>3.0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7352A"/>
                          </a:solidFill>
                          <a:latin typeface="Consolas"/>
                        </a:rPr>
                        <a:t>12.3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7352A"/>
                          </a:solidFill>
                          <a:latin typeface="Consolas"/>
                        </a:rPr>
                        <a:t>35.1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7352A"/>
                          </a:solidFill>
                          <a:latin typeface="Consolas"/>
                        </a:rPr>
                        <a:t>75.5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7352A"/>
                          </a:solidFill>
                          <a:latin typeface="Consolas"/>
                        </a:rPr>
                        <a:t>145.0</a:t>
                      </a:r>
                    </a:p>
                  </a:txBody>
                  <a:tcPr marL="91440" marR="91440" marT="18288" marB="18288" anchor="ctr">
                    <a:solidFill>
                      <a:srgbClr val="F0E6C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4892040"/>
            <a:ext cx="2386584" cy="658368"/>
          </a:xfrm>
          <a:prstGeom prst="roundRect">
            <a:avLst>
              <a:gd name="adj" fmla="val 8000"/>
            </a:avLst>
          </a:prstGeom>
          <a:solidFill>
            <a:srgbClr val="F3F5F0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4974336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Consolas"/>
              </a:rPr>
              <a:t>~120%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5294376"/>
            <a:ext cx="21122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62"/>
                </a:solidFill>
                <a:latin typeface="Segoe UI"/>
              </a:rPr>
              <a:t>Net revenue retention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5" y="4892040"/>
            <a:ext cx="2386584" cy="658368"/>
          </a:xfrm>
          <a:prstGeom prst="roundRect">
            <a:avLst>
              <a:gd name="adj" fmla="val 8000"/>
            </a:avLst>
          </a:prstGeom>
          <a:solidFill>
            <a:srgbClr val="F3F5F0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7" y="4974336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Consolas"/>
              </a:rPr>
              <a:t>~5:1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7" y="5294376"/>
            <a:ext cx="21122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62"/>
                </a:solidFill>
                <a:latin typeface="Segoe UI"/>
              </a:rPr>
              <a:t>LTV : CAC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641848"/>
            <a:ext cx="2386584" cy="658368"/>
          </a:xfrm>
          <a:prstGeom prst="roundRect">
            <a:avLst>
              <a:gd name="adj" fmla="val 8000"/>
            </a:avLst>
          </a:prstGeom>
          <a:solidFill>
            <a:srgbClr val="F3F5F0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572414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Consolas"/>
              </a:rPr>
              <a:t>~18k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6044184"/>
            <a:ext cx="21122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62"/>
                </a:solidFill>
                <a:latin typeface="Segoe UI"/>
              </a:rPr>
              <a:t>Paying startups by Y5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5" y="5641848"/>
            <a:ext cx="2386584" cy="658368"/>
          </a:xfrm>
          <a:prstGeom prst="roundRect">
            <a:avLst>
              <a:gd name="adj" fmla="val 8000"/>
            </a:avLst>
          </a:prstGeom>
          <a:solidFill>
            <a:srgbClr val="F3F5F0"/>
          </a:solidFill>
          <a:ln w="9525">
            <a:solidFill>
              <a:srgbClr val="D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7" y="572414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Consolas"/>
              </a:rPr>
              <a:t>~6%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7" y="6044184"/>
            <a:ext cx="211226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62"/>
                </a:solidFill>
                <a:latin typeface="Segoe UI"/>
              </a:rPr>
              <a:t>Share of SAM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07  —  WHY PAPER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Global tools aren't built or priced for India. Local tools are point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682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Carta / Pulley / Ledgy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295144"/>
            <a:ext cx="780257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62"/>
                </a:solidFill>
                <a:latin typeface="Segoe UI"/>
              </a:rPr>
              <a:t>World-class cap tables, but US-priced and US-regulated — no PAS-4, no FC-GPR, no ROC, no SEBI AIF.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26664"/>
            <a:ext cx="10728655" cy="10972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826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Point tools (India)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209544"/>
            <a:ext cx="780257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62"/>
                </a:solidFill>
                <a:latin typeface="Segoe UI"/>
              </a:rPr>
              <a:t>Solve one slice — a cap table, or e-sign, or a tracker. The founder still stitches five vendors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41064"/>
            <a:ext cx="10728655" cy="10972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CS / CA retainers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123944"/>
            <a:ext cx="780257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62"/>
                </a:solidFill>
                <a:latin typeface="Segoe UI"/>
              </a:rPr>
              <a:t>The default today: reliable but manual, opaque and expensive, with company data trapped in someone's inbox.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55464"/>
            <a:ext cx="10728655" cy="10972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0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114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52A"/>
                </a:solidFill>
                <a:latin typeface="Georgia"/>
              </a:rPr>
              <a:t>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038344"/>
            <a:ext cx="780257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31D"/>
                </a:solidFill>
                <a:latin typeface="Segoe UI"/>
              </a:rPr>
              <a:t>One India-native platform across the entire lifecycle — company and fund — with compliance built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7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31519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9435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08  — 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EF4EE"/>
                </a:solidFill>
                <a:latin typeface="Georgia"/>
              </a:rPr>
              <a:t>Raising a seed round to own the system of record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EF4EE"/>
                </a:solidFill>
                <a:latin typeface="Georgia"/>
              </a:rPr>
              <a:t>for Indian corporate legal.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CD2"/>
                </a:solidFill>
                <a:latin typeface="Segoe UI"/>
              </a:rPr>
              <a:t>We have a working full-stack platform spanning incorporation, cap table, fundraising, governance, compliance and fund administration. Capital takes us from product to distribution — turning ~2 lakh startups and 1,849 funds into paying, expanding accounts.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3423818" cy="27432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423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67C1A"/>
                </a:solidFill>
                <a:latin typeface="Consolas"/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34238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DDCD2"/>
                </a:solidFill>
                <a:latin typeface="Segoe UI"/>
              </a:rPr>
              <a:t>Go-to-market: founder &amp; fund acquisition, marketplace partnerships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4114800"/>
            <a:ext cx="3423818" cy="27432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4251960"/>
            <a:ext cx="3423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67C1A"/>
                </a:solidFill>
                <a:latin typeface="Consolas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4846320"/>
            <a:ext cx="34238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DDCD2"/>
                </a:solidFill>
                <a:latin typeface="Segoe UI"/>
              </a:rPr>
              <a:t>Product &amp; compliance-engine depth across MCA / SEBI / FEMA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2076" y="4114800"/>
            <a:ext cx="3423818" cy="27432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2076" y="4251960"/>
            <a:ext cx="3423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67C1A"/>
                </a:solidFill>
                <a:latin typeface="Consolas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2076" y="4846320"/>
            <a:ext cx="34238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DDCD2"/>
                </a:solidFill>
                <a:latin typeface="Segoe UI"/>
              </a:rPr>
              <a:t>Compliance, security &amp; SOC-grade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4EE"/>
                </a:solidFill>
                <a:latin typeface="Georgia"/>
              </a:rPr>
              <a:t>Paper</a:t>
            </a:r>
            <a:r>
              <a:rPr sz="1100" b="0" i="0">
                <a:solidFill>
                  <a:srgbClr val="CDDCD2"/>
                </a:solidFill>
                <a:latin typeface="Consolas"/>
              </a:rPr>
              <a:t>   ·   OS for corporate legal   · 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"/>
            <a:ext cx="310896" cy="18288"/>
          </a:xfrm>
          <a:prstGeom prst="rect">
            <a:avLst/>
          </a:prstGeom>
          <a:solidFill>
            <a:srgbClr val="A6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50291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7C1A"/>
                </a:solidFill>
                <a:latin typeface="Consolas"/>
              </a:rPr>
              <a:t>09  —  SOURCES &amp;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7352A"/>
                </a:solidFill>
                <a:latin typeface="Georgia"/>
              </a:rPr>
              <a:t>Sources &amp; disclaimer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8200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62"/>
                </a:solidFill>
                <a:latin typeface="Segoe UI"/>
              </a:rPr>
              <a:t>Market facts are approximate, from public data (2025–26): DPIIT-recognised startups ~1.98 lakh (PIB, Oct 2025); AIF commitments ₹15.74 lakh crore across 1,849 registered funds (SEBI, Dec 2025); new incorporations ~20k/month (MCA); 2025 startup funding ~$10.5B across ~1,518 rounds (TechCrunch / Tracxn).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840480"/>
            <a:ext cx="10820095" cy="13716"/>
          </a:xfrm>
          <a:prstGeom prst="rect">
            <a:avLst/>
          </a:prstGeom>
          <a:solidFill>
            <a:srgbClr val="DD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108200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31D"/>
                </a:solidFill>
                <a:latin typeface="Segoe UI"/>
              </a:rPr>
              <a:t>TAM / SAM / SOM, all pricing and all financial projections are illustrative management estimates prepared for discussion — not audited figures, guidance, or a forecast of actual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onsolas"/>
              </a:rPr>
              <a:t>Paper  ·  Prepared for investor discussion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